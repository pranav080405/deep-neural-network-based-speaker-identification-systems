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7CF728-FCC4-4862-88E6-154D9C97DF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435D15-8806-4C70-8744-FEA355EB10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C411E5-C156-4B47-B32E-8EDF235AE7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CE24279-9AD6-4707-A2BD-3EBF51C635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13DAA0B-F529-437C-A931-9D8CC7A515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2A13394-E4B7-47FE-B869-B781DFA62F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A902A47-1177-4AD3-B079-B1C2A93FFF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74B875F-A49F-4C91-BC7E-036C2D9E58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C58AE4C-66B0-4AEB-AF26-1E26B38C2B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AD945C-5AE4-4190-A8C0-DDFA89BD0EC1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9E7450-6A34-4BDD-AC29-ED86CFDC4D7F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0218EA-E3F4-4902-809F-7E2F7F711B7F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0B04E9-796A-466A-B764-06AAF4048C65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9220EA-BF38-40A8-A638-C24A2C09F48B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392226-6581-413A-BF85-485CA64C7AA3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9EA237-C9D6-4F8F-A5FE-FDCD38A0CB53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6E588E-DDAA-4E18-9E31-9179A0DD60B2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44C803-1115-4ADC-A5BF-9ED9F81A8232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670C2B-9D6D-4135-97CC-D2E9D6C59BAC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Rectangle 1"/>
          <p:cNvSpPr/>
          <p:nvPr/>
        </p:nvSpPr>
        <p:spPr>
          <a:xfrm>
            <a:off x="2193120" y="1114920"/>
            <a:ext cx="764568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000cc"/>
                </a:solidFill>
                <a:uFillTx/>
                <a:latin typeface="Times New Roman"/>
                <a:ea typeface="Arial"/>
              </a:rPr>
              <a:t>Performance Evaluation of DNN Embedding-based Speaker Identification System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000" strike="noStrike" u="none">
                <a:solidFill>
                  <a:srgbClr val="ff0000"/>
                </a:solidFill>
                <a:uFillTx/>
                <a:latin typeface="Times New Roman"/>
                <a:ea typeface="Arial"/>
              </a:rPr>
              <a:t>Paper ID-360849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516960" y="3026160"/>
            <a:ext cx="10600920" cy="16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000000"/>
                </a:solidFill>
                <a:uFillTx/>
                <a:latin typeface="Times New Roman"/>
                <a:ea typeface="Calibri"/>
              </a:rPr>
              <a:t>Presented by: 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000000"/>
                </a:solidFill>
                <a:uFillTx/>
                <a:latin typeface="Times New Roman"/>
                <a:ea typeface="Calibri"/>
              </a:rPr>
              <a:t>Pranav Madanu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Department of Electronics and Communication Engineering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Koneru Lakshmaiah Education Foundation, Hyderabad, India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Rectangle 5"/>
          <p:cNvSpPr/>
          <p:nvPr/>
        </p:nvSpPr>
        <p:spPr>
          <a:xfrm>
            <a:off x="294840" y="5941080"/>
            <a:ext cx="1189620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3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2</a:t>
            </a:r>
            <a:r>
              <a:rPr b="1" lang="en-US" sz="2300" strike="noStrike" u="none" baseline="30000">
                <a:solidFill>
                  <a:srgbClr val="000000"/>
                </a:solidFill>
                <a:uFillTx/>
                <a:latin typeface="Times New Roman"/>
                <a:ea typeface="Arial"/>
              </a:rPr>
              <a:t>nd</a:t>
            </a:r>
            <a:r>
              <a:rPr b="1" lang="en-US" sz="23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 International Conference on Performance Evaluation of DNN Embedding–based Speaker Identification System, </a:t>
            </a:r>
            <a:r>
              <a:rPr b="1" lang="en-IN" sz="23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CCPIS 2025</a:t>
            </a:r>
            <a:r>
              <a:rPr b="1" lang="en-US" sz="23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 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2161080" y="5129640"/>
            <a:ext cx="73126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en-US" sz="1600" strike="noStrike" u="none">
                <a:solidFill>
                  <a:srgbClr val="0000cc"/>
                </a:solidFill>
                <a:uFillTx/>
                <a:latin typeface="Times New Roman"/>
                <a:ea typeface="Arial"/>
              </a:rPr>
              <a:t>Co-authors - </a:t>
            </a:r>
            <a:r>
              <a:rPr b="0" i="1" lang="en-IN" sz="1600" strike="noStrike" u="none">
                <a:solidFill>
                  <a:srgbClr val="0000cc"/>
                </a:solidFill>
                <a:uFillTx/>
                <a:latin typeface="Times New Roman"/>
                <a:ea typeface="Arial"/>
              </a:rPr>
              <a:t>Rohan Madanu, Pranav Madanu, A.B Nitin, Rizwan ,MD Sameer Ahmed</a:t>
            </a:r>
            <a:r>
              <a:rPr b="0" i="1" lang="en-US" sz="1600" strike="noStrike" u="none">
                <a:solidFill>
                  <a:srgbClr val="0000cc"/>
                </a:solidFill>
                <a:uFillTx/>
                <a:latin typeface="Times New Roman"/>
                <a:ea typeface="Arial"/>
              </a:rPr>
              <a:t> </a:t>
            </a:r>
            <a:r>
              <a:rPr b="1" i="1" lang="en-US" sz="1600" strike="noStrike" u="none">
                <a:solidFill>
                  <a:srgbClr val="0000cc"/>
                </a:solidFill>
                <a:uFillTx/>
                <a:latin typeface="Times New Roman"/>
                <a:ea typeface="Arial"/>
              </a:rPr>
              <a:t> 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81" name="Google Shape;108;p15"/>
          <p:cNvSpPr/>
          <p:nvPr/>
        </p:nvSpPr>
        <p:spPr>
          <a:xfrm>
            <a:off x="2308320" y="5988960"/>
            <a:ext cx="986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110;p15"/>
          <p:cNvSpPr/>
          <p:nvPr/>
        </p:nvSpPr>
        <p:spPr>
          <a:xfrm>
            <a:off x="181440" y="354960"/>
            <a:ext cx="2832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Contents 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111;p15"/>
          <p:cNvSpPr/>
          <p:nvPr/>
        </p:nvSpPr>
        <p:spPr>
          <a:xfrm>
            <a:off x="711720" y="978840"/>
            <a:ext cx="109677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Introduction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Related Work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Proposed Methodology 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Dataset Description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Calibri"/>
              </a:rPr>
              <a:t>Software Packages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Calibri"/>
              </a:rPr>
              <a:t>Results and Discussion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Calibri"/>
              </a:rPr>
              <a:t>Conclusion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Calibri"/>
              </a:rPr>
              <a:t>References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0E2A0E-0AE3-41D8-9969-B782E6FFD945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85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87" name="Google Shape;108;p15"/>
          <p:cNvSpPr/>
          <p:nvPr/>
        </p:nvSpPr>
        <p:spPr>
          <a:xfrm>
            <a:off x="2698200" y="5958720"/>
            <a:ext cx="94734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10;p15"/>
          <p:cNvSpPr/>
          <p:nvPr/>
        </p:nvSpPr>
        <p:spPr>
          <a:xfrm>
            <a:off x="3897000" y="35640"/>
            <a:ext cx="38210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Introduction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111;p15"/>
          <p:cNvSpPr/>
          <p:nvPr/>
        </p:nvSpPr>
        <p:spPr>
          <a:xfrm>
            <a:off x="914400" y="817200"/>
            <a:ext cx="10721520" cy="47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4960" indent="-2649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Speaker identification aims to authenticate individuals based on vocal characteristics (physio-behavioral traits like vocal tract shape and accent).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4960" indent="-2649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Shift: Traditional methods used Gaussian Mixture Models (GMM-UBM). This study moves toward Deep Neural Networks (DNN) for better feature extraction.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4960" indent="-2649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Objective: To evaluate a DNN embedding model using Probabilistic Linear Discriminant Analysis (PLDA) scores on a custom 51-speaker dataset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4960" indent="-2649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Key Metrics: Performance is assessed using Equal Error Rate (EER) and Accuracy.[3-4]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665BF5-C764-4576-A45C-4EA2A6F8D73D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91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0904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93" name="Google Shape;108;p15"/>
          <p:cNvSpPr/>
          <p:nvPr/>
        </p:nvSpPr>
        <p:spPr>
          <a:xfrm>
            <a:off x="2743200" y="5966280"/>
            <a:ext cx="94669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Google Shape;110;p15"/>
          <p:cNvSpPr/>
          <p:nvPr/>
        </p:nvSpPr>
        <p:spPr>
          <a:xfrm>
            <a:off x="1109160" y="133920"/>
            <a:ext cx="94262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Related Work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Google Shape;111;p15"/>
          <p:cNvSpPr/>
          <p:nvPr/>
        </p:nvSpPr>
        <p:spPr>
          <a:xfrm>
            <a:off x="711720" y="749520"/>
            <a:ext cx="11276280" cy="49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[1]]</a:t>
            </a: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Google’s Voice Match system employs deep neural embeddings to personalize device responses and authenticate users across multilingual environments.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[2]</a:t>
            </a: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Amazon Alexa’s speaker recognition uses DNN-based voice profiles to distinguish household members for secure and personalized interactions.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[3]</a:t>
            </a: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GMM-UBM and i-vector methods provided early compact speaker representations but were highly sensitive to noise and channel mismatch.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[4]</a:t>
            </a: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DNN-based x-vector and d-vector architectures improved robustness by learning discriminative embeddings for speaker identification.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260387-A44D-4D6A-9B8B-BCF9DF5C4E0B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97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07;p15"/>
          <p:cNvSpPr/>
          <p:nvPr/>
        </p:nvSpPr>
        <p:spPr>
          <a:xfrm>
            <a:off x="33840" y="587556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99" name="Google Shape;108;p15"/>
          <p:cNvSpPr/>
          <p:nvPr/>
        </p:nvSpPr>
        <p:spPr>
          <a:xfrm>
            <a:off x="2896920" y="6074640"/>
            <a:ext cx="9383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Google Shape;110;p15"/>
          <p:cNvSpPr/>
          <p:nvPr/>
        </p:nvSpPr>
        <p:spPr>
          <a:xfrm>
            <a:off x="4978440" y="264240"/>
            <a:ext cx="47307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Proposed Methodology</a:t>
            </a:r>
            <a:br>
              <a:rPr sz="3200"/>
            </a:b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Google Shape;111;p15"/>
          <p:cNvSpPr/>
          <p:nvPr/>
        </p:nvSpPr>
        <p:spPr>
          <a:xfrm>
            <a:off x="4101840" y="902880"/>
            <a:ext cx="7334640" cy="48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system processes raw speech through a five-stage pipeline. First, audio chunks are acquired and preprocessed to reduce noise and enhance quality.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MFCC features are then extracted to represent key spectral–temporal cues. These are fed into a DNN embedding network to generate discriminative speaker vectors.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Finally, a PLDA backend computes similarity scores for identifying the target speaker.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" name="Picture 4" descr=""/>
          <p:cNvPicPr/>
          <p:nvPr/>
        </p:nvPicPr>
        <p:blipFill>
          <a:blip r:embed="rId1"/>
          <a:stretch/>
        </p:blipFill>
        <p:spPr>
          <a:xfrm>
            <a:off x="308160" y="348120"/>
            <a:ext cx="3483360" cy="522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2" descr="EAI IC4S 2024 – 5th EAI International Conference on Cognitive Computing and  Cyber Physical Systems"/>
          <p:cNvPicPr/>
          <p:nvPr/>
        </p:nvPicPr>
        <p:blipFill>
          <a:blip r:embed="rId2"/>
          <a:stretch/>
        </p:blipFill>
        <p:spPr>
          <a:xfrm>
            <a:off x="469440" y="607464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DNN embedding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672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The DNN processes MFCC feature sequences using time-delay layers that capture temporal dependencies and learn speaker-specific patterns.</a:t>
            </a:r>
            <a:endParaRPr b="0" lang="en-IN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A statistics-pooling layer computes the mean and variance across all frames, converting variable-length audio into a fixed-length representation.</a:t>
            </a:r>
            <a:endParaRPr b="0" lang="en-IN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Segment-level layers refine these representations into high-dimensional speaker embeddings, which encode discriminative vocal traits for PLDA scoring.</a:t>
            </a:r>
            <a:endParaRPr b="0" lang="en-IN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2743200" y="5974200"/>
            <a:ext cx="9293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7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10" name="Google Shape;108;p15"/>
          <p:cNvSpPr/>
          <p:nvPr/>
        </p:nvSpPr>
        <p:spPr>
          <a:xfrm>
            <a:off x="2811600" y="5927400"/>
            <a:ext cx="936000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110;p15"/>
          <p:cNvSpPr/>
          <p:nvPr/>
        </p:nvSpPr>
        <p:spPr>
          <a:xfrm>
            <a:off x="2811600" y="137520"/>
            <a:ext cx="73296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Dataset Description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111;p15"/>
          <p:cNvSpPr/>
          <p:nvPr/>
        </p:nvSpPr>
        <p:spPr>
          <a:xfrm>
            <a:off x="403200" y="827280"/>
            <a:ext cx="11544840" cy="47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2C7888-91F2-4335-A7C0-5DC51F036ED1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14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5" name="Table 2"/>
          <p:cNvGraphicFramePr/>
          <p:nvPr/>
        </p:nvGraphicFramePr>
        <p:xfrm>
          <a:off x="1048680" y="1032120"/>
          <a:ext cx="10094040" cy="4416120"/>
        </p:xfrm>
        <a:graphic>
          <a:graphicData uri="http://schemas.openxmlformats.org/drawingml/2006/table">
            <a:tbl>
              <a:tblPr/>
              <a:tblGrid>
                <a:gridCol w="1049760"/>
                <a:gridCol w="4031640"/>
                <a:gridCol w="5013000"/>
              </a:tblGrid>
              <a:tr h="384840">
                <a:tc gridSpan="3"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1438200"/>
                        </a:tabLst>
                      </a:pPr>
                      <a:r>
                        <a:rPr b="0" lang="en-IN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Table 1: Description of Speech Corpus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S.No.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Particulars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Features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Total number of speakers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51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0480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2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Areas of speakers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UG students, Doctors, Actors, Politicians, Professors.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3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Native places of speaker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All over India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Gender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Male and female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Frequency &amp; Channel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16 KHz, Mono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Ages of speakers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17-60 years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7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Speaking Language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Indian Accent English, Hindi, Telugu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9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Duration of Each Speaker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15-20 Seconds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36600">
                <a:tc>
                  <a:txBody>
                    <a:bodyPr lIns="34200" r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Number of utterances of each speaker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34200" rIns="3492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20 per language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9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7;p16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3AB8CC-1B89-488E-8427-5108516469A8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8" name="Google Shape;121;p16"/>
          <p:cNvSpPr/>
          <p:nvPr/>
        </p:nvSpPr>
        <p:spPr>
          <a:xfrm>
            <a:off x="2383560" y="5930280"/>
            <a:ext cx="97880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2611440" y="117720"/>
            <a:ext cx="60951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Software packages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1"/>
          <p:cNvSpPr/>
          <p:nvPr/>
        </p:nvSpPr>
        <p:spPr>
          <a:xfrm>
            <a:off x="450720" y="739080"/>
            <a:ext cx="11168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Technical Details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1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Table 8"/>
          <p:cNvGraphicFramePr/>
          <p:nvPr/>
        </p:nvGraphicFramePr>
        <p:xfrm>
          <a:off x="1861560" y="1237680"/>
          <a:ext cx="9491040" cy="4496040"/>
        </p:xfrm>
        <a:graphic>
          <a:graphicData uri="http://schemas.openxmlformats.org/drawingml/2006/table">
            <a:tbl>
              <a:tblPr/>
              <a:tblGrid>
                <a:gridCol w="2712240"/>
                <a:gridCol w="6779160"/>
              </a:tblGrid>
              <a:tr h="240120">
                <a:tc gridSpan="2">
                  <a:txBody>
                    <a:bodyPr lIns="68400" rIns="684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450360"/>
                        </a:tabLst>
                      </a:pPr>
                      <a:r>
                        <a:rPr b="1" lang="en-GB" sz="11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Table 2: Required Tools and libraries to implement Speaker Identification</a:t>
                      </a:r>
                      <a:endParaRPr b="0" lang="en-IN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012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GB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Required Packages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GB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Description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2072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GB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Google Colab: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GB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 cloud-based Jupyter notebook service that provides free access to GPU and TPU hardware for machine learning experiments.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TensorFlow / Keras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Deep learning frameworks used to design, train, and evaluate the speaker identification model.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2072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Librosa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 Python library for audio and music analysis, used to extract MFCC (Mel-Frequency Cepstral Coefficients) and other acoustic features from the input voice samples.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NumPy and Pandas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Libraries used for numerical computation and efficient handling of large datasets.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80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Matplotlib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Used for visualizing accuracy, loss, and feature distribution during model training and testing.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scikit-learn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Used for label encoding, data splitting, and evaluation metrics computation.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80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Google Drive Integration</a:t>
                      </a:r>
                      <a:endParaRPr b="0" lang="en-IN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355680"/>
                          <a:tab algn="l" pos="711360"/>
                          <a:tab algn="l" pos="1066680"/>
                          <a:tab algn="l" pos="1422360"/>
                          <a:tab algn="l" pos="1778040"/>
                          <a:tab algn="l" pos="2133720"/>
                          <a:tab algn="l" pos="2489040"/>
                          <a:tab algn="l" pos="2844720"/>
                          <a:tab algn="l" pos="3200400"/>
                          <a:tab algn="l" pos="3556080"/>
                          <a:tab algn="l" pos="3911760"/>
                          <a:tab algn="l" pos="426708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Used for dataset storage, model checkpoints, and saving final trained models.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07;p15"/>
          <p:cNvSpPr/>
          <p:nvPr/>
        </p:nvSpPr>
        <p:spPr>
          <a:xfrm>
            <a:off x="19080" y="587052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24" name="Google Shape;108;p15"/>
          <p:cNvSpPr/>
          <p:nvPr/>
        </p:nvSpPr>
        <p:spPr>
          <a:xfrm>
            <a:off x="2698200" y="6025680"/>
            <a:ext cx="947340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Google Shape;110;p15"/>
          <p:cNvSpPr/>
          <p:nvPr/>
        </p:nvSpPr>
        <p:spPr>
          <a:xfrm>
            <a:off x="2080440" y="108360"/>
            <a:ext cx="7329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Results – Accuracy &amp; EER</a:t>
            </a:r>
            <a:br>
              <a:rPr sz="3200"/>
            </a:b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Google Shape;111;p15"/>
          <p:cNvSpPr/>
          <p:nvPr/>
        </p:nvSpPr>
        <p:spPr>
          <a:xfrm>
            <a:off x="391680" y="1042200"/>
            <a:ext cx="109677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6CD076-6C92-4296-95FC-A075E2330959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1075680" y="3677040"/>
            <a:ext cx="10546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Performance improved steadily as training epochs increased from 10 to 50, with the best results achieved at 50 epochs—reducing the EER to 6.2% and increasing accuracy to 91.26%.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9" name="Picture 9" descr=""/>
          <p:cNvPicPr/>
          <p:nvPr/>
        </p:nvPicPr>
        <p:blipFill>
          <a:blip r:embed="rId1"/>
          <a:stretch/>
        </p:blipFill>
        <p:spPr>
          <a:xfrm>
            <a:off x="2269800" y="754920"/>
            <a:ext cx="7631280" cy="227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2" descr="EAI IC4S 2024 – 5th EAI International Conference on Cognitive Computing and  Cyber Physical Systems"/>
          <p:cNvPicPr/>
          <p:nvPr/>
        </p:nvPicPr>
        <p:blipFill>
          <a:blip r:embed="rId2"/>
          <a:stretch/>
        </p:blipFill>
        <p:spPr>
          <a:xfrm>
            <a:off x="410040" y="60195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Table 4"/>
          <p:cNvGraphicFramePr/>
          <p:nvPr/>
        </p:nvGraphicFramePr>
        <p:xfrm>
          <a:off x="900000" y="473760"/>
          <a:ext cx="10390680" cy="4951440"/>
        </p:xfrm>
        <a:graphic>
          <a:graphicData uri="http://schemas.openxmlformats.org/drawingml/2006/table">
            <a:tbl>
              <a:tblPr/>
              <a:tblGrid>
                <a:gridCol w="1762560"/>
                <a:gridCol w="2157120"/>
                <a:gridCol w="2353320"/>
                <a:gridCol w="1960920"/>
                <a:gridCol w="2157120"/>
              </a:tblGrid>
              <a:tr h="522360">
                <a:tc gridSpan="5">
                  <a:txBody>
                    <a:bodyPr lIns="68400" rIns="684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IN" sz="1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Table 4: Accuracy and Loss with the variation of epochs</a:t>
                      </a:r>
                      <a:endParaRPr b="0" lang="en-IN" sz="1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6924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Epoch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Training Accuracy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Validation Accuracy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Training Loss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Validation Loss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580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10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0.8946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0.9104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0.3115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0.2135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3476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20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0.9090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0.9178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0.2868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0.2019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0920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30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0.9149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0.9156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0.2761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0.1915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7616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40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0.9090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0.9178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0.2868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0.2019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853920"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IN" sz="20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50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0.9129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0.9123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0.2604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IN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0.2177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32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10040" y="6019560"/>
            <a:ext cx="1580400" cy="3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7"/>
          <p:cNvSpPr/>
          <p:nvPr/>
        </p:nvSpPr>
        <p:spPr>
          <a:xfrm>
            <a:off x="2543040" y="6075360"/>
            <a:ext cx="9238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107;p15"/>
          <p:cNvSpPr/>
          <p:nvPr/>
        </p:nvSpPr>
        <p:spPr>
          <a:xfrm>
            <a:off x="19080" y="587052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10;p15"/>
          <p:cNvSpPr/>
          <p:nvPr/>
        </p:nvSpPr>
        <p:spPr>
          <a:xfrm>
            <a:off x="2080440" y="108360"/>
            <a:ext cx="7329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Results and discussion</a:t>
            </a:r>
            <a:br>
              <a:rPr sz="3200"/>
            </a:b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Google Shape;111;p15"/>
          <p:cNvSpPr/>
          <p:nvPr/>
        </p:nvSpPr>
        <p:spPr>
          <a:xfrm>
            <a:off x="630720" y="1168560"/>
            <a:ext cx="109677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406E1E-F826-4229-A7CD-1037199377ED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342360" y="781560"/>
            <a:ext cx="1165176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Figure 1: Shows validation accuracy slightly surpassing training accuracy, indicating no overfitting and good generalization.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Figure 2 : Both training and validation loss decrease and converge smoothly by epoch 50, showing stable optimization.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9" name="Picture 9" descr=""/>
          <p:cNvPicPr/>
          <p:nvPr/>
        </p:nvPicPr>
        <p:blipFill>
          <a:blip r:embed="rId1"/>
          <a:stretch/>
        </p:blipFill>
        <p:spPr>
          <a:xfrm>
            <a:off x="95040" y="3060000"/>
            <a:ext cx="6024600" cy="32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11" descr=""/>
          <p:cNvPicPr/>
          <p:nvPr/>
        </p:nvPicPr>
        <p:blipFill>
          <a:blip r:embed="rId2"/>
          <a:stretch/>
        </p:blipFill>
        <p:spPr>
          <a:xfrm>
            <a:off x="5940000" y="2880000"/>
            <a:ext cx="6194520" cy="333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1810800" y="2700000"/>
            <a:ext cx="50288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11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Table 1: Epochs vs Accuracy</a:t>
            </a:r>
            <a:endParaRPr b="0" lang="en-IN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920000" y="2543760"/>
            <a:ext cx="2879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11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Table 2: Epochs vs Model Loss</a:t>
            </a:r>
            <a:endParaRPr b="0" lang="en-IN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3" name="Picture 1" descr="EAI IC4S 2024 – 5th EAI International Conference on Cognitive Computing and  Cyber Physical Systems"/>
          <p:cNvPicPr/>
          <p:nvPr/>
        </p:nvPicPr>
        <p:blipFill>
          <a:blip r:embed="rId3"/>
          <a:stretch/>
        </p:blipFill>
        <p:spPr>
          <a:xfrm>
            <a:off x="180000" y="6480000"/>
            <a:ext cx="1259640" cy="2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3015360" y="6480000"/>
            <a:ext cx="91764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107;p 1"/>
          <p:cNvSpPr/>
          <p:nvPr/>
        </p:nvSpPr>
        <p:spPr>
          <a:xfrm>
            <a:off x="720" y="637596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07;p15"/>
          <p:cNvSpPr/>
          <p:nvPr/>
        </p:nvSpPr>
        <p:spPr>
          <a:xfrm>
            <a:off x="360" y="58096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47" name="Google Shape;108;p15"/>
          <p:cNvSpPr/>
          <p:nvPr/>
        </p:nvSpPr>
        <p:spPr>
          <a:xfrm>
            <a:off x="2533320" y="6002280"/>
            <a:ext cx="96382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Google Shape;110;p15"/>
          <p:cNvSpPr/>
          <p:nvPr/>
        </p:nvSpPr>
        <p:spPr>
          <a:xfrm>
            <a:off x="-2185560" y="257040"/>
            <a:ext cx="732960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Conclusion</a:t>
            </a:r>
            <a:br>
              <a:rPr sz="3200"/>
            </a:b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Google Shape;111;p15"/>
          <p:cNvSpPr/>
          <p:nvPr/>
        </p:nvSpPr>
        <p:spPr>
          <a:xfrm>
            <a:off x="384840" y="816480"/>
            <a:ext cx="11411640" cy="49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Developed a robust DNN-PLDA speaker identification system using a diverse in-house dataset of 51 speakers.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Achieved stable convergence with 91.26% accuracy and a 6.2% Equal Error Rate.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Demonstrated strong generalization capability, with validation accuracy consistently higher than training accuracy.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Future work includes expanding the dataset, evaluating performance in noisier environments, and exploring Transformer-based architectures.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Training and validation curves showed consistent improvement and stable convergence, with validation metrics outperforming training, indicating efficient learning and absence of overfitting.</a:t>
            </a:r>
            <a:endParaRPr b="0" lang="en-IN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655BB3-7091-44D9-A2BC-698EB5A782BF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51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7;p15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53" name="Google Shape;108;p15"/>
          <p:cNvSpPr/>
          <p:nvPr/>
        </p:nvSpPr>
        <p:spPr>
          <a:xfrm>
            <a:off x="2803320" y="5988960"/>
            <a:ext cx="936828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110;p15"/>
          <p:cNvSpPr/>
          <p:nvPr/>
        </p:nvSpPr>
        <p:spPr>
          <a:xfrm>
            <a:off x="2120400" y="114120"/>
            <a:ext cx="732960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trike="noStrike" u="none">
                <a:solidFill>
                  <a:srgbClr val="203864"/>
                </a:solidFill>
                <a:uFillTx/>
                <a:latin typeface="Times New Roman"/>
                <a:ea typeface="Calibri"/>
              </a:rPr>
              <a:t>References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Google Shape;111;p15"/>
          <p:cNvSpPr/>
          <p:nvPr/>
        </p:nvSpPr>
        <p:spPr>
          <a:xfrm>
            <a:off x="711720" y="1269000"/>
            <a:ext cx="109677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9BDACB-092A-440E-96F8-5F99C0C7D0B2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560520" y="766800"/>
            <a:ext cx="11119320" cy="55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1) Hanifa, Rafizah Mohd, Khalid Isa, and Shamsul Mohamad. "A review on speaker recognition: Technology and challenges." Computers &amp; Electrical Engineering 90 (2021): 107005. 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2) Faundez-Zanuy, Marcos, and Enric Monte-Moreno. "State-of-the-art in speaker recognition." IEEE Aerospace and      Electronic Systems Magazine 20, no. 5 (2005): 7-12. 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3) Tahon, Marie, and Laurence Devillers. "Towards a small set of robust acoustic features for emotion recognition: challenges." IEEE/ACM transactions on audio, speech, and lan guage processing 24, no. 1 (2015): 16-28. 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4) Li, Ming, Kyu J. Han, and Shrikanth Narayanan. "Automatic speaker age and gender recognition using acoustic and prosodic level information fusion." Computer Speech &amp; Language 27, no. 1.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GB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5) Wang, Qiongqiong, Koji Okabe, Kong Aik Lee, and Takafumi Koshinaka. "Generalized domain adaptation framework for parametric back-end in speaker recognition." IEEE Transactions on Information Forensics and Security 18 (2023): 3936-3947. 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GB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6) Prabakaran, Durairaj, and S. Sriuppili. "Speech processing: MFCC based feature extraction techniques-an investigation." In Journal of Physics: Conference Series, vol. 1717, no. 1, p. 012009. IOP Publishing, 2021.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40;p28"/>
          <p:cNvSpPr/>
          <p:nvPr/>
        </p:nvSpPr>
        <p:spPr>
          <a:xfrm>
            <a:off x="19080" y="5721480"/>
            <a:ext cx="12191040" cy="1036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60" name="Google Shape;242;p28"/>
          <p:cNvSpPr/>
          <p:nvPr/>
        </p:nvSpPr>
        <p:spPr>
          <a:xfrm>
            <a:off x="4395240" y="2368080"/>
            <a:ext cx="4030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400" strike="noStrike" u="none">
                <a:solidFill>
                  <a:srgbClr val="ff0000"/>
                </a:solidFill>
                <a:uFillTx/>
                <a:latin typeface="Calibri"/>
                <a:ea typeface="Calibri"/>
              </a:rPr>
              <a:t>Thank You!</a:t>
            </a:r>
            <a:endParaRPr b="0" lang="en-IN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0BC28D-6F2D-42E1-B9ED-59642BBBE1BD}" type="slidenum">
              <a:rPr b="0" lang="en-US" sz="1200" strike="noStrike" u="none">
                <a:solidFill>
                  <a:srgbClr val="8b8b8b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2889360" y="5937480"/>
            <a:ext cx="9155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US" sz="14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nd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 International Conference on Performance Evaluation of DNN Embedding–based Speaker Identification System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3" name="Picture 2" descr="EAI IC4S 2024 – 5th EAI International Conference on Cognitive Computing and  Cyber Physical Systems"/>
          <p:cNvPicPr/>
          <p:nvPr/>
        </p:nvPicPr>
        <p:blipFill>
          <a:blip r:embed="rId1"/>
          <a:stretch/>
        </p:blipFill>
        <p:spPr>
          <a:xfrm>
            <a:off x="450720" y="5988960"/>
            <a:ext cx="1580400" cy="36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3441</TotalTime>
  <Application>LibreOffice/24.8.4.2$MacOSX_X86_64 LibreOffice_project/bb3cfa12c7b1bf994ecc5649a80400d06cd71002</Application>
  <AppVersion>15.0000</AppVersion>
  <Words>1264</Words>
  <Paragraphs>174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Ravi kumar</dc:creator>
  <dc:description/>
  <dc:language>en-IN</dc:language>
  <cp:lastModifiedBy/>
  <dcterms:modified xsi:type="dcterms:W3CDTF">2026-03-18T08:52:49Z</dcterms:modified>
  <cp:revision>31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